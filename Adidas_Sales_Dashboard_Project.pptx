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072CE"/>
            </a:solidFill>
            <a:ln w="25400" cap="flat">
              <a:solidFill>
                <a:srgbClr val="0072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2CE"/>
              </a:solidFill>
              <a:ln w="9525" cap="flat">
                <a:solidFill>
                  <a:srgbClr val="0072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499262</c:v>
                </c:pt>
                <c:pt idx="1">
                  <c:v>436701</c:v>
                </c:pt>
                <c:pt idx="2">
                  <c:v>487780</c:v>
                </c:pt>
                <c:pt idx="3">
                  <c:v>484188</c:v>
                </c:pt>
                <c:pt idx="4">
                  <c:v>508537</c:v>
                </c:pt>
                <c:pt idx="5">
                  <c:v>526896</c:v>
                </c:pt>
                <c:pt idx="6">
                  <c:v>507357</c:v>
                </c:pt>
                <c:pt idx="7">
                  <c:v>518820</c:v>
                </c:pt>
                <c:pt idx="8">
                  <c:v>502441</c:v>
                </c:pt>
                <c:pt idx="9">
                  <c:v>492910</c:v>
                </c:pt>
                <c:pt idx="10">
                  <c:v>451344</c:v>
                </c:pt>
                <c:pt idx="11">
                  <c:v>503310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07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Northeast</c:v>
                  </c:pt>
                  <c:pt idx="1">
                    <c:v>Southeast</c:v>
                  </c:pt>
                  <c:pt idx="2">
                    <c:v>South</c:v>
                  </c:pt>
                  <c:pt idx="3">
                    <c:v>Midwest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3720035</c:v>
                </c:pt>
                <c:pt idx="1">
                  <c:v>3621728</c:v>
                </c:pt>
                <c:pt idx="2">
                  <c:v>3614557</c:v>
                </c:pt>
                <c:pt idx="3">
                  <c:v>3596693</c:v>
                </c:pt>
                <c:pt idx="4">
                  <c:v>3560397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$#,##0.0,,M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Method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2CE"/>
              </a:solidFill>
              <a:effectLst/>
            </c:spPr>
          </c:dPt>
          <c:dPt>
            <c:idx val="1"/>
            <c:bubble3D val="0"/>
            <c:spPr>
              <a:solidFill>
                <a:srgbClr val="3A9BE0"/>
              </a:solidFill>
              <a:effectLst/>
            </c:spPr>
          </c:dPt>
          <c:dPt>
            <c:idx val="2"/>
            <c:bubble3D val="0"/>
            <c:spPr>
              <a:solidFill>
                <a:srgbClr val="8FC7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Outlet</c:v>
                </c:pt>
                <c:pt idx="1">
                  <c:v>Online</c:v>
                </c:pt>
                <c:pt idx="2">
                  <c:v>In-store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5947926</c:v>
                </c:pt>
                <c:pt idx="1">
                  <c:v>5926761</c:v>
                </c:pt>
                <c:pt idx="2">
                  <c:v>5848538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4F4F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07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Foot Locker</c:v>
                  </c:pt>
                  <c:pt idx="1">
                    <c:v>Kohl's</c:v>
                  </c:pt>
                  <c:pt idx="2">
                    <c:v>J.D. Sports</c:v>
                  </c:pt>
                  <c:pt idx="3">
                    <c:v>West Gear</c:v>
                  </c:pt>
                  <c:pt idx="4">
                    <c:v>Sports Direct</c:v>
                  </c:pt>
                  <c:pt idx="5">
                    <c:v>Adidas.com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2323172</c:v>
                </c:pt>
                <c:pt idx="1">
                  <c:v>2302905</c:v>
                </c:pt>
                <c:pt idx="2">
                  <c:v>2293627</c:v>
                </c:pt>
                <c:pt idx="3">
                  <c:v>2285839</c:v>
                </c:pt>
                <c:pt idx="4">
                  <c:v>2268273</c:v>
                </c:pt>
                <c:pt idx="5">
                  <c:v>2246242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$#,##0.0,,M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2CE"/>
              </a:solidFill>
              <a:effectLst/>
            </c:spPr>
          </c:dPt>
          <c:dPt>
            <c:idx val="1"/>
            <c:bubble3D val="0"/>
            <c:spPr>
              <a:solidFill>
                <a:srgbClr val="3A9BE0"/>
              </a:solidFill>
              <a:effectLst/>
            </c:spPr>
          </c:dPt>
          <c:dPt>
            <c:idx val="2"/>
            <c:bubble3D val="0"/>
            <c:spPr>
              <a:solidFill>
                <a:srgbClr val="6BB4E8"/>
              </a:solidFill>
              <a:effectLst/>
            </c:spPr>
          </c:dPt>
          <c:dPt>
            <c:idx val="3"/>
            <c:bubble3D val="0"/>
            <c:spPr>
              <a:solidFill>
                <a:srgbClr val="8FC7F0"/>
              </a:solidFill>
              <a:effectLst/>
            </c:spPr>
          </c:dPt>
          <c:dPt>
            <c:idx val="4"/>
            <c:bubble3D val="0"/>
            <c:spPr>
              <a:solidFill>
                <a:srgbClr val="B8DCF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Women's Street FW</c:v>
                </c:pt>
                <c:pt idx="1">
                  <c:v>Men's Athletic FW</c:v>
                </c:pt>
                <c:pt idx="2">
                  <c:v>Women's Apparel</c:v>
                </c:pt>
                <c:pt idx="3">
                  <c:v>Accessories</c:v>
                </c:pt>
                <c:pt idx="4">
                  <c:v>Outdoor FW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1976558</c:v>
                </c:pt>
                <c:pt idx="1">
                  <c:v>1913025</c:v>
                </c:pt>
                <c:pt idx="2">
                  <c:v>1895470</c:v>
                </c:pt>
                <c:pt idx="3">
                  <c:v>1873823</c:v>
                </c:pt>
                <c:pt idx="4">
                  <c:v>1867430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
              <a:solidFill>
                <a:srgbClr val="F4F4F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07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New York</c:v>
                  </c:pt>
                  <c:pt idx="1">
                    <c:v>California</c:v>
                  </c:pt>
                  <c:pt idx="2">
                    <c:v>New Jersey</c:v>
                  </c:pt>
                  <c:pt idx="3">
                    <c:v>Virginia</c:v>
                  </c:pt>
                  <c:pt idx="4">
                    <c:v>Wisconsin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1009251</c:v>
                </c:pt>
                <c:pt idx="1">
                  <c:v>986161</c:v>
                </c:pt>
                <c:pt idx="2">
                  <c:v>952250</c:v>
                </c:pt>
                <c:pt idx="3">
                  <c:v>927404</c:v>
                </c:pt>
                <c:pt idx="4">
                  <c:v>906862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$#,##0.0,,M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4F4F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Data Cleaning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 Project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10,000-row sales export to a clean, decision-ready Excel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1828800" cy="0"/>
          </a:xfrm>
          <a:prstGeom prst="line">
            <a:avLst/>
          </a:prstGeom>
          <a:noFill/>
          <a:ln w="38100">
            <a:solidFill>
              <a:srgbClr val="0072C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OBJECTIVE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raw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duplicates, missing values, inconsistent formats and bad entries in the 10,000-row Adidas sales export before any analysis happens.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reliable metrics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926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every downstream number — revenue, units sold, average price — is trustworthy, not skewed by dirty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self-serve dashboard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035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stakeholders one Excel dashboard to explore sales by retailer, region, product and channel without touching raw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406908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343400"/>
            <a:ext cx="457200" cy="45720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937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faster decisions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53035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top/underperforming regions, retailers and products so sales &amp; marketing can act quickly.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Dashboard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ABOUT THE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working with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67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yrs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19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(2022–2024)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319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covered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074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Order_Date · Retailer · Region · State · Product ·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Sales_Method · Price_per_Unit · Units_Sold · Total_Sales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173736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1111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542032"/>
            <a:ext cx="91440" cy="9144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241401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&amp; colliding Order_IDs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3118104"/>
            <a:ext cx="91440" cy="9144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23760" y="2990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State, Price, Units, Sales_Method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95160" y="3694176"/>
            <a:ext cx="91440" cy="9144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35661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 across Order_Date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95160" y="4270248"/>
            <a:ext cx="91440" cy="9144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23760" y="414223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 casing ("ADIDAS ONLINE STORE" vs "west gear")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95160" y="4846320"/>
            <a:ext cx="91440" cy="9144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471830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"Men's" vs "Mens" naming inconsistencies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95160" y="5422392"/>
            <a:ext cx="91440" cy="91440"/>
          </a:xfrm>
          <a:prstGeom prst="ellipse">
            <a:avLst/>
          </a:prstGeom>
          <a:solidFill>
            <a:srgbClr val="0072C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529437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units, zero prices, Total_Sales mismatched to Price × Units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Dashboard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CHART SPECIFICATION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the dashboard needs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77440" cy="411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691640"/>
            <a:ext cx="2103120" cy="411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35808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3108960" cy="411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38928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383280" cy="411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47888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237744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103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Trend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0" y="2103120"/>
            <a:ext cx="210312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35808" y="2103120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310896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38928" y="210312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by month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2103120"/>
            <a:ext cx="338328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47888" y="2103120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seasonality &amp; growth over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761488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27614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0" y="2761488"/>
            <a:ext cx="21031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35808" y="276148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2761488"/>
            <a:ext cx="3108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38928" y="2761488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by Region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2761488"/>
            <a:ext cx="33832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47888" y="2761488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regions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19856"/>
            <a:ext cx="237744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3419856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Retailer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0" y="3419856"/>
            <a:ext cx="210312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035808" y="3419856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0" y="3419856"/>
            <a:ext cx="310896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138928" y="341985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by Retailer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38160" y="3419856"/>
            <a:ext cx="338328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47888" y="3419856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&amp; bottom retail partners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078224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4078224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926080" y="4078224"/>
            <a:ext cx="21031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035808" y="407822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0" y="4078224"/>
            <a:ext cx="3108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138928" y="4078224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share by Product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38160" y="4078224"/>
            <a:ext cx="33832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47888" y="4078224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category contribution to revenue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736592"/>
            <a:ext cx="237744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47365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Method Split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926080" y="4736592"/>
            <a:ext cx="210312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035808" y="4736592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029200" y="4736592"/>
            <a:ext cx="310896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138928" y="4736592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by Sales_Method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138160" y="4736592"/>
            <a:ext cx="338328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47888" y="4736592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vs Outlet vs Online mix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394960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8368" y="539496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926080" y="5394960"/>
            <a:ext cx="21031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035808" y="5394960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(Top 10)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029200" y="5394960"/>
            <a:ext cx="3108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138928" y="539496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by State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138160" y="5394960"/>
            <a:ext cx="33832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47888" y="5394960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highest-value states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Dashboard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DASHBOARD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 layout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$18.1M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2B2B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2B2B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PRICE/UNIT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$55.07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560320" cy="713232"/>
          </a:xfrm>
          <a:prstGeom prst="roundRect">
            <a:avLst>
              <a:gd name="adj" fmla="val 10256"/>
            </a:avLst>
          </a:prstGeom>
          <a:solidFill>
            <a:srgbClr val="2B2B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9,262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416052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246888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(Monthly, 2024)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0080" y="2761488"/>
          <a:ext cx="3977640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713232" y="4087368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demand, peaks in Jun &amp; Aug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92040" y="2377440"/>
            <a:ext cx="416052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56632" y="246888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1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4983480" y="2761488"/>
          <a:ext cx="3977640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5056632" y="4087368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evenly balanced (&lt;5% spread)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9235440" y="2377440"/>
            <a:ext cx="2770632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400032" y="246888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Method Split</a:t>
            </a:r>
            <a:endParaRPr lang="en-US" sz="1150" dirty="0"/>
          </a:p>
        </p:txBody>
      </p:sp>
      <p:graphicFrame>
        <p:nvGraphicFramePr>
          <p:cNvPr id="26" name="Chart 2" descr=""/>
          <p:cNvGraphicFramePr/>
          <p:nvPr/>
        </p:nvGraphicFramePr>
        <p:xfrm>
          <a:off x="9281160" y="2743200"/>
          <a:ext cx="2679192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Shape 22"/>
          <p:cNvSpPr/>
          <p:nvPr/>
        </p:nvSpPr>
        <p:spPr>
          <a:xfrm>
            <a:off x="548640" y="4480560"/>
            <a:ext cx="416052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13232" y="457200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Retailer (Top 6)</a:t>
            </a:r>
            <a:endParaRPr lang="en-US" sz="1150" dirty="0"/>
          </a:p>
        </p:txBody>
      </p:sp>
      <p:graphicFrame>
        <p:nvGraphicFramePr>
          <p:cNvPr id="29" name="Chart 3" descr=""/>
          <p:cNvGraphicFramePr/>
          <p:nvPr/>
        </p:nvGraphicFramePr>
        <p:xfrm>
          <a:off x="640080" y="4864608"/>
          <a:ext cx="3977640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Shape 24"/>
          <p:cNvSpPr/>
          <p:nvPr/>
        </p:nvSpPr>
        <p:spPr>
          <a:xfrm>
            <a:off x="4892040" y="4480560"/>
            <a:ext cx="416052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056632" y="457200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(Top 5 of 10)</a:t>
            </a:r>
            <a:endParaRPr lang="en-US" sz="1150" dirty="0"/>
          </a:p>
        </p:txBody>
      </p:sp>
      <p:graphicFrame>
        <p:nvGraphicFramePr>
          <p:cNvPr id="32" name="Chart 4" descr=""/>
          <p:cNvGraphicFramePr/>
          <p:nvPr/>
        </p:nvGraphicFramePr>
        <p:xfrm>
          <a:off x="4983480" y="4846320"/>
          <a:ext cx="397764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9235440" y="4480560"/>
            <a:ext cx="2770632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9400032" y="457200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</a:t>
            </a:r>
            <a:endParaRPr lang="en-US" sz="1150" dirty="0"/>
          </a:p>
        </p:txBody>
      </p:sp>
      <p:graphicFrame>
        <p:nvGraphicFramePr>
          <p:cNvPr id="35" name="Chart 5" descr=""/>
          <p:cNvGraphicFramePr/>
          <p:nvPr/>
        </p:nvGraphicFramePr>
        <p:xfrm>
          <a:off x="9281160" y="4864608"/>
          <a:ext cx="2633472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Text 28"/>
          <p:cNvSpPr txBox="1"/>
          <p:nvPr/>
        </p:nvSpPr>
        <p:spPr>
          <a:xfrm>
            <a:off x="548640" y="6300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(slicers): Region · Retailer · Sales_Method · Date range — pinned above the KPI row so every chart stays in sync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EXPLANATION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numbers — Total Sales, Units Sold, Avg. Price/Unit, Orders — give an instant health check before drilling into any chart.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6459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9385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line chart. Confirms demand is steady year-round with mild peaks in June and August — useful for planning inventory and promotions.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63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comparing the 5 regions. All five sit within a ~5% band of each other, so growth isn't concentrated in one area.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81635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Method Split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10896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Outlet / Online / In-store. Near-even three-way split — no single channel dominates, so all three need attention.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867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Retailer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7939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of the top 6 (of 8) retail partners. Foot Locker leads, but the field is tightly packed — a competitive spread.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9867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27939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of the top 5 (of 10) product lines by revenue. Footwear and apparel are close in contribution — no single category to over-index on.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572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4982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the 5 highest-selling states, for regional teams to see exactly where demand concentrates within their region.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51572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544982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Retailer, Sales_Method and Date-range filters sit above the KPIs and drive every chart at once, so any slice of the business can be isolated in one click.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Dashboard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2026-09-24T09:37:36Z</dcterms:created>
  <dcterms:modified xsi:type="dcterms:W3CDTF">2026-09-24T09:37:36Z</dcterms:modified>
</cp:coreProperties>
</file>